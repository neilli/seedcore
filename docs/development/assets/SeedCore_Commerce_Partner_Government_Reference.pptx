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0b627fd99c4af2" /><Relationship Type="http://schemas.openxmlformats.org/officeDocument/2006/relationships/extended-properties" Target="/docProps/app.xml" Id="Rb77b5ea379a04ab9" /><Relationship Type="http://schemas.openxmlformats.org/officeDocument/2006/relationships/officeDocument" Target="/ppt/presentation.xml" Id="R6aec426576ae42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70050c664146f9"/>
  </p:sldMasterIdLst>
  <p:notesMasterIdLst>
    <p:notesMasterId xmlns:r="http://schemas.openxmlformats.org/officeDocument/2006/relationships" r:id="Rcda7b8b43b4a4990"/>
  </p:notesMasterIdLst>
  <p:sldIdLst>
    <p:sldId xmlns:r="http://schemas.openxmlformats.org/officeDocument/2006/relationships" id="256" r:id="Rc0042b4b2e5d4b45"/>
    <p:sldId xmlns:r="http://schemas.openxmlformats.org/officeDocument/2006/relationships" id="257" r:id="Ra84c728a10984b71"/>
    <p:sldId xmlns:r="http://schemas.openxmlformats.org/officeDocument/2006/relationships" id="258" r:id="R8738e2d809124c5c"/>
    <p:sldId xmlns:r="http://schemas.openxmlformats.org/officeDocument/2006/relationships" id="259" r:id="R4de4c8a6c52d4a6c"/>
    <p:sldId xmlns:r="http://schemas.openxmlformats.org/officeDocument/2006/relationships" id="260" r:id="R1e40d9ae1e504da9"/>
    <p:sldId xmlns:r="http://schemas.openxmlformats.org/officeDocument/2006/relationships" id="261" r:id="R5e3219de04df4510"/>
    <p:sldId xmlns:r="http://schemas.openxmlformats.org/officeDocument/2006/relationships" id="262" r:id="Ra5ca7c4cf07d4b95"/>
    <p:sldId xmlns:r="http://schemas.openxmlformats.org/officeDocument/2006/relationships" id="263" r:id="Ra91ec23e126c4e42"/>
    <p:sldId xmlns:r="http://schemas.openxmlformats.org/officeDocument/2006/relationships" id="264" r:id="Raa3be35ae0d24e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6c76c0f8bb48e5" /><Relationship Type="http://schemas.openxmlformats.org/officeDocument/2006/relationships/slideMaster" Target="/ppt/slideMasters/slideMaster1.xml" Id="R4270050c664146f9" /><Relationship Type="http://schemas.openxmlformats.org/officeDocument/2006/relationships/notesMaster" Target="/ppt/notesMasters/notesMaster1.xml" Id="Rcda7b8b43b4a4990" /><Relationship Type="http://schemas.openxmlformats.org/officeDocument/2006/relationships/presProps" Target="/ppt/presProps.xml" Id="Rd6731d09cf9b4844" /><Relationship Type="http://schemas.openxmlformats.org/officeDocument/2006/relationships/tableStyles" Target="/ppt/tableStyles.xml" Id="Rcf8a3e4d24484274" /><Relationship Type="http://schemas.openxmlformats.org/officeDocument/2006/relationships/slide" Target="/ppt/slides/slide1.xml" Id="Rc0042b4b2e5d4b45" /><Relationship Type="http://schemas.openxmlformats.org/officeDocument/2006/relationships/slide" Target="/ppt/slides/slide2.xml" Id="Ra84c728a10984b71" /><Relationship Type="http://schemas.openxmlformats.org/officeDocument/2006/relationships/slide" Target="/ppt/slides/slide3.xml" Id="R8738e2d809124c5c" /><Relationship Type="http://schemas.openxmlformats.org/officeDocument/2006/relationships/slide" Target="/ppt/slides/slide4.xml" Id="R4de4c8a6c52d4a6c" /><Relationship Type="http://schemas.openxmlformats.org/officeDocument/2006/relationships/slide" Target="/ppt/slides/slide5.xml" Id="R1e40d9ae1e504da9" /><Relationship Type="http://schemas.openxmlformats.org/officeDocument/2006/relationships/slide" Target="/ppt/slides/slide6.xml" Id="R5e3219de04df4510" /><Relationship Type="http://schemas.openxmlformats.org/officeDocument/2006/relationships/slide" Target="/ppt/slides/slide7.xml" Id="Ra5ca7c4cf07d4b95" /><Relationship Type="http://schemas.openxmlformats.org/officeDocument/2006/relationships/slide" Target="/ppt/slides/slide8.xml" Id="Ra91ec23e126c4e42" /><Relationship Type="http://schemas.openxmlformats.org/officeDocument/2006/relationships/slide" Target="/ppt/slides/slide9.xml" Id="Raa3be35ae0d24e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b933d013fb40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5a0afb042343cd" /><Relationship Type="http://schemas.openxmlformats.org/officeDocument/2006/relationships/notesMaster" Target="/ppt/notesMasters/notesMaster1.xml" Id="R547aa6fecf9242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b019ce63864b34" /><Relationship Type="http://schemas.openxmlformats.org/officeDocument/2006/relationships/notesMaster" Target="/ppt/notesMasters/notesMaster1.xml" Id="R470449c92dbf48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0d7b43bf6d47cf" /><Relationship Type="http://schemas.openxmlformats.org/officeDocument/2006/relationships/notesMaster" Target="/ppt/notesMasters/notesMaster1.xml" Id="R47e0f718708142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cdae99ad3f40e4" /><Relationship Type="http://schemas.openxmlformats.org/officeDocument/2006/relationships/notesMaster" Target="/ppt/notesMasters/notesMaster1.xml" Id="R70248cddb8ee42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4a5821a9314499" /><Relationship Type="http://schemas.openxmlformats.org/officeDocument/2006/relationships/notesMaster" Target="/ppt/notesMasters/notesMaster1.xml" Id="R6275ab59ffc74c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22e4e13fd44088" /><Relationship Type="http://schemas.openxmlformats.org/officeDocument/2006/relationships/notesMaster" Target="/ppt/notesMasters/notesMaster1.xml" Id="R5f2796903bba42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59a1e1443644a3" /><Relationship Type="http://schemas.openxmlformats.org/officeDocument/2006/relationships/notesMaster" Target="/ppt/notesMasters/notesMaster1.xml" Id="Refc521eeed3e45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a6bddb3e904392" /><Relationship Type="http://schemas.openxmlformats.org/officeDocument/2006/relationships/notesMaster" Target="/ppt/notesMasters/notesMaster1.xml" Id="R5df0f04534ec41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cedef646ce48a7" /><Relationship Type="http://schemas.openxmlformats.org/officeDocument/2006/relationships/notesMaster" Target="/ppt/notesMasters/notesMaster1.xml" Id="Ra6fed5fe76514b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commit 17ce32d40cffcf4adbdb35dd402fc3c3ed748873.</a:t>
            </a:r>
          </a:p>
          <a:p xmlns:a="http://schemas.openxmlformats.org/drawingml/2006/main">
            <a:r>
              <a:t>docs/development/immersive_commerce_and_governed_trade_architecture.md, sections 1 and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tourist_design_studio_delivery_schedule.md, sections 2, 3.1, 3.2 and 7.</a:t>
            </a:r>
          </a:p>
          <a:p xmlns:a="http://schemas.openxmlformats.org/drawingml/2006/main">
            <a:r>
              <a:t>Internal source: immersive_commerce_and_governed_trade_architecture.md, sections 2, 3.1 and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immersive_commerce_and_governed_trade_architecture.md, sections 1–3.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immersive_commerce_and_governed_trade_architecture.md, section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README.md, ‘Governed State Transition’ and ‘Commercial Wedge: Restricted Custody Transfer’.</a:t>
            </a:r>
          </a:p>
          <a:p xmlns:a="http://schemas.openxmlformats.org/drawingml/2006/main">
            <a:r>
              <a:t>Internal source: immersive_commerce_and_governed_trade_architecture.md, section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immersive_commerce_and_governed_trade_architecture.md, sections 4 and 7.</a:t>
            </a:r>
          </a:p>
          <a:p xmlns:a="http://schemas.openxmlformats.org/drawingml/2006/main">
            <a:r>
              <a:t>Internal source: policy_gate_matrix.md, Evaluation Rules and Execution Token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immersive_commerce_and_governed_trade_architecture.md, section 6.</a:t>
            </a:r>
          </a:p>
          <a:p xmlns:a="http://schemas.openxmlformats.org/drawingml/2006/main">
            <a:r>
              <a:t>Internal source: tourist_design_studio_delivery_schedule.md, sections 1, 8 and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immersive_commerce_and_governed_trade_architecture.md, section 9.</a:t>
            </a:r>
          </a:p>
          <a:p xmlns:a="http://schemas.openxmlformats.org/drawingml/2006/main">
            <a:r>
              <a:t>Internal source: tourist_design_studio_delivery_schedule.md, sections 2, 10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immersive_commerce_and_governed_trade_architecture.md, sections 3.1, 6, 9 and 10.</a:t>
            </a:r>
          </a:p>
          <a:p xmlns:a="http://schemas.openxmlformats.org/drawingml/2006/main">
            <a:r>
              <a:t>Internal source: tourist_design_studio_delivery_schedule.md, sections 1 and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0a213752544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dcb4c5c9884160" /><Relationship Type="http://schemas.openxmlformats.org/officeDocument/2006/relationships/slideLayout" Target="/ppt/slideLayouts/slideLayout1.xml" Id="R338d52ed6b8341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8d52ed6b8341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c529ba9c84a13" /><Relationship Type="http://schemas.openxmlformats.org/officeDocument/2006/relationships/notesSlide" Target="/ppt/notesSlides/notesSlide1.xml" Id="R324b02cb47774f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b5faf50154480" /><Relationship Type="http://schemas.openxmlformats.org/officeDocument/2006/relationships/notesSlide" Target="/ppt/notesSlides/notesSlide2.xml" Id="Rd7d4798398b84c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965ab16e0494f" /><Relationship Type="http://schemas.openxmlformats.org/officeDocument/2006/relationships/notesSlide" Target="/ppt/notesSlides/notesSlide3.xml" Id="R0ac2dda997ea4e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fb4e02ce64f8a" /><Relationship Type="http://schemas.openxmlformats.org/officeDocument/2006/relationships/notesSlide" Target="/ppt/notesSlides/notesSlide4.xml" Id="R55009e91f5134a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2457d95e445fa" /><Relationship Type="http://schemas.openxmlformats.org/officeDocument/2006/relationships/notesSlide" Target="/ppt/notesSlides/notesSlide5.xml" Id="R382016220da445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e52f887c04a70" /><Relationship Type="http://schemas.openxmlformats.org/officeDocument/2006/relationships/notesSlide" Target="/ppt/notesSlides/notesSlide6.xml" Id="R6d693004979c4f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2250e80b34a4e" /><Relationship Type="http://schemas.openxmlformats.org/officeDocument/2006/relationships/notesSlide" Target="/ppt/notesSlides/notesSlide7.xml" Id="R1b3dd33c8e5642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d689b5c914f37" /><Relationship Type="http://schemas.openxmlformats.org/officeDocument/2006/relationships/notesSlide" Target="/ppt/notesSlides/notesSlide8.xml" Id="Rae1dbc8233e745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38ea2b64443e4" /><Relationship Type="http://schemas.openxmlformats.org/officeDocument/2006/relationships/notesSlide" Target="/ppt/notesSlides/notesSlide9.xml" Id="R8db235839fcb4d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7E03482-08A9-4EF2-990F-316BF059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PARTNER &amp; GOVERNMENT REFERENCE  |  AUGUST 2026</a:t>
            </a:r>
          </a:p>
        </p:txBody>
      </p:sp>
      <p:sp>
        <p:nvSpPr>
          <p:cNvPr id="2" name="commit-ref">
            <a:extLst xmlns:a="http://schemas.openxmlformats.org/drawingml/2006/main">
              <a:ext uri="{FF2B5EF4-FFF2-40B4-BE49-F238E27FC236}">
                <a16:creationId xmlns:a16="http://schemas.microsoft.com/office/drawing/2014/main" id="{613D972B-8BA3-4B3F-89DF-94EDC81A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Planning reference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52CB15B-AADE-4201-9E91-16B32125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7810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Commerce with</a:t>
            </a:r>
          </a:p>
          <a:p xmlns:a="http://schemas.openxmlformats.org/drawingml/2006/main">
            <a:pPr algn="l">
              <a:defRPr sz="5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clear boundaries.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722B91A-7F11-43C3-AFD5-E821F481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practical visitor-commerce pilot alongside a governed trade pathway for high-consequence custody actions.</a:t>
            </a:r>
          </a:p>
        </p:txBody>
      </p:sp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731ABE5-7B85-4D97-8D69-CFC8A59A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14350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169B7478-867F-4985-8B49-81586A21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236D3FE4-84D4-4A2A-956B-00CEA706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691460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2">
            <a:extLst xmlns:a="http://schemas.openxmlformats.org/drawingml/2006/main">
              <a:ext uri="{FF2B5EF4-FFF2-40B4-BE49-F238E27FC236}">
                <a16:creationId xmlns:a16="http://schemas.microsoft.com/office/drawing/2014/main" id="{084F66D4-0467-4500-AD1B-9EB53D80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Kids’ DIY is the experience — not an add-on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A202AFAA-FD75-42A5-A5F1-81B39A20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pilot begins with family co-creation; a kids’ VR/spatial moment is a later, safeguarded extension rather than a replacement for the core journey.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53D10A7-4BB6-4F89-994D-1500D089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42B4B129-FAD5-4D99-B8F9-F7E11432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diy-step-0">
            <a:extLst xmlns:a="http://schemas.openxmlformats.org/drawingml/2006/main">
              <a:ext uri="{FF2B5EF4-FFF2-40B4-BE49-F238E27FC236}">
                <a16:creationId xmlns:a16="http://schemas.microsoft.com/office/drawing/2014/main" id="{E6E6FDF0-A176-4281-8CCA-AB56B02B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2381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y-heading-0">
            <a:extLst xmlns:a="http://schemas.openxmlformats.org/drawingml/2006/main">
              <a:ext uri="{FF2B5EF4-FFF2-40B4-BE49-F238E27FC236}">
                <a16:creationId xmlns:a16="http://schemas.microsoft.com/office/drawing/2014/main" id="{C75AA566-6F04-42A0-B7C7-FB04896B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Choose</a:t>
            </a:r>
          </a:p>
        </p:txBody>
      </p:sp>
      <p:sp>
        <p:nvSpPr>
          <p:cNvPr id="7" name="diy-body-0">
            <a:extLst xmlns:a="http://schemas.openxmlformats.org/drawingml/2006/main">
              <a:ext uri="{FF2B5EF4-FFF2-40B4-BE49-F238E27FC236}">
                <a16:creationId xmlns:a16="http://schemas.microsoft.com/office/drawing/2014/main" id="{A6E20BAE-F703-4A22-A840-1FD1FEE1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Pick a destination kit, starter layout and playful structured controls.</a:t>
            </a:r>
          </a:p>
        </p:txBody>
      </p:sp>
      <p:sp>
        <p:nvSpPr>
          <p:cNvPr id="8" name="diy-step-1">
            <a:extLst xmlns:a="http://schemas.openxmlformats.org/drawingml/2006/main">
              <a:ext uri="{FF2B5EF4-FFF2-40B4-BE49-F238E27FC236}">
                <a16:creationId xmlns:a16="http://schemas.microsoft.com/office/drawing/2014/main" id="{EC72E853-7ABE-45E6-AF1A-E82B608F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95550"/>
            <a:ext cx="2381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y-heading-1">
            <a:extLst xmlns:a="http://schemas.openxmlformats.org/drawingml/2006/main">
              <a:ext uri="{FF2B5EF4-FFF2-40B4-BE49-F238E27FC236}">
                <a16:creationId xmlns:a16="http://schemas.microsoft.com/office/drawing/2014/main" id="{D6813600-3914-4E30-A4D0-2D4A3D47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622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Create</a:t>
            </a:r>
          </a:p>
        </p:txBody>
      </p:sp>
      <p:sp>
        <p:nvSpPr>
          <p:cNvPr id="10" name="diy-body-1">
            <a:extLst xmlns:a="http://schemas.openxmlformats.org/drawingml/2006/main">
              <a:ext uri="{FF2B5EF4-FFF2-40B4-BE49-F238E27FC236}">
                <a16:creationId xmlns:a16="http://schemas.microsoft.com/office/drawing/2014/main" id="{62F4062C-CD73-47D4-87CD-CDE459A4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3375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Personalise with safe inputs, remix, and compare up to three variants.</a:t>
            </a:r>
          </a:p>
        </p:txBody>
      </p:sp>
      <p:sp>
        <p:nvSpPr>
          <p:cNvPr id="11" name="diy-step-2">
            <a:extLst xmlns:a="http://schemas.openxmlformats.org/drawingml/2006/main">
              <a:ext uri="{FF2B5EF4-FFF2-40B4-BE49-F238E27FC236}">
                <a16:creationId xmlns:a16="http://schemas.microsoft.com/office/drawing/2014/main" id="{0D6272D5-94E7-4861-AAAE-C2501156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95550"/>
            <a:ext cx="2381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y-heading-2">
            <a:extLst xmlns:a="http://schemas.openxmlformats.org/drawingml/2006/main">
              <a:ext uri="{FF2B5EF4-FFF2-40B4-BE49-F238E27FC236}">
                <a16:creationId xmlns:a16="http://schemas.microsoft.com/office/drawing/2014/main" id="{7C98C0A3-9869-4DC2-81D3-19B6E409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Preview</a:t>
            </a:r>
          </a:p>
        </p:txBody>
      </p:sp>
      <p:sp>
        <p:nvSpPr>
          <p:cNvPr id="13" name="diy-body-2">
            <a:extLst xmlns:a="http://schemas.openxmlformats.org/drawingml/2006/main">
              <a:ext uri="{FF2B5EF4-FFF2-40B4-BE49-F238E27FC236}">
                <a16:creationId xmlns:a16="http://schemas.microsoft.com/office/drawing/2014/main" id="{752DC088-E369-45F8-9DD1-AB6061A0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See a print-valid product preview before any purchase decision.</a:t>
            </a:r>
          </a:p>
        </p:txBody>
      </p:sp>
      <p:sp>
        <p:nvSpPr>
          <p:cNvPr id="14" name="diy-step-3">
            <a:extLst xmlns:a="http://schemas.openxmlformats.org/drawingml/2006/main">
              <a:ext uri="{FF2B5EF4-FFF2-40B4-BE49-F238E27FC236}">
                <a16:creationId xmlns:a16="http://schemas.microsoft.com/office/drawing/2014/main" id="{DE895AF8-41CA-4F0B-8E36-3D96CBAA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95550"/>
            <a:ext cx="2381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y-heading-3">
            <a:extLst xmlns:a="http://schemas.openxmlformats.org/drawingml/2006/main">
              <a:ext uri="{FF2B5EF4-FFF2-40B4-BE49-F238E27FC236}">
                <a16:creationId xmlns:a16="http://schemas.microsoft.com/office/drawing/2014/main" id="{FE872486-D9DA-43C6-8C1B-9F7543AF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7622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4. Hand off</a:t>
            </a:r>
          </a:p>
        </p:txBody>
      </p:sp>
      <p:sp>
        <p:nvSpPr>
          <p:cNvPr id="16" name="diy-body-3">
            <a:extLst xmlns:a="http://schemas.openxmlformats.org/drawingml/2006/main">
              <a:ext uri="{FF2B5EF4-FFF2-40B4-BE49-F238E27FC236}">
                <a16:creationId xmlns:a16="http://schemas.microsoft.com/office/drawing/2014/main" id="{E10B30D6-D0DE-4897-A17E-1A833A47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3375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An adult approves on their phone, then payment and fulfillment proceed.</a:t>
            </a:r>
          </a:p>
        </p:txBody>
      </p:sp>
      <p:sp>
        <p:nvSpPr>
          <p:cNvPr id="17" name="diy-rule">
            <a:extLst xmlns:a="http://schemas.openxmlformats.org/drawingml/2006/main">
              <a:ext uri="{FF2B5EF4-FFF2-40B4-BE49-F238E27FC236}">
                <a16:creationId xmlns:a16="http://schemas.microsoft.com/office/drawing/2014/main" id="{63A440FB-678F-4162-ABD6-D0AC15B0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8" name="vr-label">
            <a:extLst xmlns:a="http://schemas.openxmlformats.org/drawingml/2006/main">
              <a:ext uri="{FF2B5EF4-FFF2-40B4-BE49-F238E27FC236}">
                <a16:creationId xmlns:a16="http://schemas.microsoft.com/office/drawing/2014/main" id="{5D4B84FC-95CB-4B36-A427-0CF66AE1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KIDS’ VR / SPATIAL DIY — A STAGED, SUPERVISED CONCEPT</a:t>
            </a:r>
          </a:p>
        </p:txBody>
      </p:sp>
      <p:sp>
        <p:nvSpPr>
          <p:cNvPr id="19" name="vr-guardrails">
            <a:extLst xmlns:a="http://schemas.openxmlformats.org/drawingml/2006/main">
              <a:ext uri="{FF2B5EF4-FFF2-40B4-BE49-F238E27FC236}">
                <a16:creationId xmlns:a16="http://schemas.microsoft.com/office/drawing/2014/main" id="{C8702961-6538-4E47-B6B3-6128E35E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Private single-visitor session · time-bounded and venue-supervised · no child biometrics, voice capture, persistent identity, social features, checkout or custody action</a:t>
            </a:r>
          </a:p>
        </p:txBody>
      </p:sp>
    </p:spTree>
    <p:extLst>
      <p:ext uri="{BB962C8B-B14F-4D97-AF65-F5344CB8AC3E}">
        <p14:creationId xmlns:p14="http://schemas.microsoft.com/office/powerpoint/2010/main" val="824435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3">
            <a:extLst xmlns:a="http://schemas.openxmlformats.org/drawingml/2006/main">
              <a:ext uri="{FF2B5EF4-FFF2-40B4-BE49-F238E27FC236}">
                <a16:creationId xmlns:a16="http://schemas.microsoft.com/office/drawing/2014/main" id="{E511C573-4AEF-4228-BA48-2B4821C8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commercial tracks — one disciplined portfolio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EB614D7D-0F39-46B3-80CA-968E4835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They may share a partner narrative, but not authority, customer data, checkout, or deployment by default.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976177E0-212E-46B8-8409-A9A97A11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C00A598-88DE-4BA3-9D5C-522B4E7A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" name="col-num-0">
            <a:extLst xmlns:a="http://schemas.openxmlformats.org/drawingml/2006/main">
              <a:ext uri="{FF2B5EF4-FFF2-40B4-BE49-F238E27FC236}">
                <a16:creationId xmlns:a16="http://schemas.microsoft.com/office/drawing/2014/main" id="{38237C30-AADC-4274-85E5-8DDB3383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col-heading-0">
            <a:extLst xmlns:a="http://schemas.openxmlformats.org/drawingml/2006/main">
              <a:ext uri="{FF2B5EF4-FFF2-40B4-BE49-F238E27FC236}">
                <a16:creationId xmlns:a16="http://schemas.microsoft.com/office/drawing/2014/main" id="{D5F8CA29-E13B-4E35-A577-7111EEBA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Visitor commerce</a:t>
            </a:r>
          </a:p>
        </p:txBody>
      </p:sp>
      <p:sp>
        <p:nvSpPr>
          <p:cNvPr id="7" name="col-body-0">
            <a:extLst xmlns:a="http://schemas.openxmlformats.org/drawingml/2006/main">
              <a:ext uri="{FF2B5EF4-FFF2-40B4-BE49-F238E27FC236}">
                <a16:creationId xmlns:a16="http://schemas.microsoft.com/office/drawing/2014/main" id="{095B4FF4-0E93-48BD-B391-07B3479D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323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Tourist Design Studio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Private creation, product preview, adult approval, payment and fulfillment.</a:t>
            </a:r>
          </a:p>
        </p:txBody>
      </p:sp>
      <p:sp>
        <p:nvSpPr>
          <p:cNvPr id="8" name="col-num-1">
            <a:extLst xmlns:a="http://schemas.openxmlformats.org/drawingml/2006/main">
              <a:ext uri="{FF2B5EF4-FFF2-40B4-BE49-F238E27FC236}">
                <a16:creationId xmlns:a16="http://schemas.microsoft.com/office/drawing/2014/main" id="{B0472B6F-27A7-40D3-9D63-8FD39B60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col-heading-1">
            <a:extLst xmlns:a="http://schemas.openxmlformats.org/drawingml/2006/main">
              <a:ext uri="{FF2B5EF4-FFF2-40B4-BE49-F238E27FC236}">
                <a16:creationId xmlns:a16="http://schemas.microsoft.com/office/drawing/2014/main" id="{C0CAEADD-B136-4527-B27F-E9F34072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0035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Immersive extension</a:t>
            </a:r>
          </a:p>
        </p:txBody>
      </p:sp>
      <p:sp>
        <p:nvSpPr>
          <p:cNvPr id="10" name="col-body-1">
            <a:extLst xmlns:a="http://schemas.openxmlformats.org/drawingml/2006/main">
              <a:ext uri="{FF2B5EF4-FFF2-40B4-BE49-F238E27FC236}">
                <a16:creationId xmlns:a16="http://schemas.microsoft.com/office/drawing/2014/main" id="{C7C6375F-5C4A-4E61-9517-0606CFF1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05200"/>
            <a:ext cx="323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Browser 3D, mobile AR, or venue immersion only after a measurable conversion, trust, or engagement hypothesis.</a:t>
            </a:r>
          </a:p>
        </p:txBody>
      </p:sp>
      <p:sp>
        <p:nvSpPr>
          <p:cNvPr id="11" name="col-num-2">
            <a:extLst xmlns:a="http://schemas.openxmlformats.org/drawingml/2006/main">
              <a:ext uri="{FF2B5EF4-FFF2-40B4-BE49-F238E27FC236}">
                <a16:creationId xmlns:a16="http://schemas.microsoft.com/office/drawing/2014/main" id="{339AE9FF-AE3E-47F5-903A-A25FA06B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col-heading-2">
            <a:extLst xmlns:a="http://schemas.openxmlformats.org/drawingml/2006/main">
              <a:ext uri="{FF2B5EF4-FFF2-40B4-BE49-F238E27FC236}">
                <a16:creationId xmlns:a16="http://schemas.microsoft.com/office/drawing/2014/main" id="{20B391D6-BD89-47E6-96AF-16F9DB2B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Governed trade</a:t>
            </a:r>
          </a:p>
        </p:txBody>
      </p:sp>
      <p:sp>
        <p:nvSpPr>
          <p:cNvPr id="13" name="col-body-2">
            <a:extLst xmlns:a="http://schemas.openxmlformats.org/drawingml/2006/main">
              <a:ext uri="{FF2B5EF4-FFF2-40B4-BE49-F238E27FC236}">
                <a16:creationId xmlns:a16="http://schemas.microsoft.com/office/drawing/2014/main" id="{4D5CB3F7-028D-4ADE-8753-68AF78EF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23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Rare-shoe trade and restricted custody transfer, where every consequential action is policy-admitted and replay-verifiable.</a:t>
            </a:r>
          </a:p>
        </p:txBody>
      </p:sp>
      <p:sp>
        <p:nvSpPr>
          <p:cNvPr id="14" name="columns-rule">
            <a:extLst xmlns:a="http://schemas.openxmlformats.org/drawingml/2006/main">
              <a:ext uri="{FF2B5EF4-FFF2-40B4-BE49-F238E27FC236}">
                <a16:creationId xmlns:a16="http://schemas.microsoft.com/office/drawing/2014/main" id="{F56E94D0-C531-4CB0-937B-E84B023F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79157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4">
            <a:extLst xmlns:a="http://schemas.openxmlformats.org/drawingml/2006/main">
              <a:ext uri="{FF2B5EF4-FFF2-40B4-BE49-F238E27FC236}">
                <a16:creationId xmlns:a16="http://schemas.microsoft.com/office/drawing/2014/main" id="{ABC6D074-8F93-46D3-B552-90D62FA2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clear boundary protects both experiences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3497FC66-EDAA-4BCE-AC23-EF9666F1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Fast, private consumer commerce stays separate from deterministic, evidence-bound trade execution.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1D821C24-B656-454A-B571-40A5B317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8089953-FB23-4227-AF77-CCF96964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row-0">
            <a:extLst xmlns:a="http://schemas.openxmlformats.org/drawingml/2006/main">
              <a:ext uri="{FF2B5EF4-FFF2-40B4-BE49-F238E27FC236}">
                <a16:creationId xmlns:a16="http://schemas.microsoft.com/office/drawing/2014/main" id="{99857E43-1590-438E-8542-A00FC00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1125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cell-0-0">
            <a:extLst xmlns:a="http://schemas.openxmlformats.org/drawingml/2006/main">
              <a:ext uri="{FF2B5EF4-FFF2-40B4-BE49-F238E27FC236}">
                <a16:creationId xmlns:a16="http://schemas.microsoft.com/office/drawing/2014/main" id="{4A0D36F9-6511-4CEF-A953-9D3944BD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7647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Surface</a:t>
            </a:r>
          </a:p>
        </p:txBody>
      </p:sp>
      <p:sp>
        <p:nvSpPr>
          <p:cNvPr id="7" name="cell-0-1">
            <a:extLst xmlns:a="http://schemas.openxmlformats.org/drawingml/2006/main">
              <a:ext uri="{FF2B5EF4-FFF2-40B4-BE49-F238E27FC236}">
                <a16:creationId xmlns:a16="http://schemas.microsoft.com/office/drawing/2014/main" id="{CFFE191F-29EF-49BC-857A-D0CBEFBB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76475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 do</a:t>
            </a:r>
          </a:p>
        </p:txBody>
      </p:sp>
      <p:sp>
        <p:nvSpPr>
          <p:cNvPr id="8" name="cell-0-2">
            <a:extLst xmlns:a="http://schemas.openxmlformats.org/drawingml/2006/main">
              <a:ext uri="{FF2B5EF4-FFF2-40B4-BE49-F238E27FC236}">
                <a16:creationId xmlns:a16="http://schemas.microsoft.com/office/drawing/2014/main" id="{945AB3B3-04A2-45C8-A6E4-35E8B0E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76475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Must not do</a:t>
            </a:r>
          </a:p>
        </p:txBody>
      </p:sp>
      <p:sp>
        <p:nvSpPr>
          <p:cNvPr id="9" name="cell-0-3">
            <a:extLst xmlns:a="http://schemas.openxmlformats.org/drawingml/2006/main">
              <a:ext uri="{FF2B5EF4-FFF2-40B4-BE49-F238E27FC236}">
                <a16:creationId xmlns:a16="http://schemas.microsoft.com/office/drawing/2014/main" id="{86C9FAED-D4E0-4355-8156-4D65FE0E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76475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System of record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B57B0A24-B3BC-4D43-8CB5-F249C673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1" name="cell-1-0">
            <a:extLst xmlns:a="http://schemas.openxmlformats.org/drawingml/2006/main">
              <a:ext uri="{FF2B5EF4-FFF2-40B4-BE49-F238E27FC236}">
                <a16:creationId xmlns:a16="http://schemas.microsoft.com/office/drawing/2014/main" id="{C62EEAB3-5C70-42A6-9CC3-8A873B2B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Tourist Studio</a:t>
            </a:r>
          </a:p>
        </p:txBody>
      </p:sp>
      <p:sp>
        <p:nvSpPr>
          <p:cNvPr id="12" name="cell-1-1">
            <a:extLst xmlns:a="http://schemas.openxmlformats.org/drawingml/2006/main">
              <a:ext uri="{FF2B5EF4-FFF2-40B4-BE49-F238E27FC236}">
                <a16:creationId xmlns:a16="http://schemas.microsoft.com/office/drawing/2014/main" id="{DBF4DC5B-8EAD-42EC-8B33-A4525137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4320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Create, preview, approve and buy a souvenir</a:t>
            </a:r>
          </a:p>
        </p:txBody>
      </p:sp>
      <p:sp>
        <p:nvSpPr>
          <p:cNvPr id="13" name="cell-1-2">
            <a:extLst xmlns:a="http://schemas.openxmlformats.org/drawingml/2006/main">
              <a:ext uri="{FF2B5EF4-FFF2-40B4-BE49-F238E27FC236}">
                <a16:creationId xmlns:a16="http://schemas.microsoft.com/office/drawing/2014/main" id="{2033E71B-F2D4-4542-995E-EA6C7D19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432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1E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B1E3F"/>
                </a:solidFill>
                <a:latin typeface="Helvetica Neue"/>
                <a:ea typeface="Helvetica Neue"/>
                <a:cs typeface="Helvetica Neue"/>
              </a:rPr>
              <a:t>Mint authority or transfer custody</a:t>
            </a:r>
          </a:p>
        </p:txBody>
      </p:sp>
      <p:sp>
        <p:nvSpPr>
          <p:cNvPr id="14" name="cell-1-3">
            <a:extLst xmlns:a="http://schemas.openxmlformats.org/drawingml/2006/main">
              <a:ext uri="{FF2B5EF4-FFF2-40B4-BE49-F238E27FC236}">
                <a16:creationId xmlns:a16="http://schemas.microsoft.com/office/drawing/2014/main" id="{DF258E35-ACCF-4941-81ED-8CA3DACC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Studio application</a:t>
            </a:r>
          </a:p>
        </p:txBody>
      </p:sp>
      <p:sp>
        <p:nvSpPr>
          <p:cNvPr id="15" name="row-2">
            <a:extLst xmlns:a="http://schemas.openxmlformats.org/drawingml/2006/main">
              <a:ext uri="{FF2B5EF4-FFF2-40B4-BE49-F238E27FC236}">
                <a16:creationId xmlns:a16="http://schemas.microsoft.com/office/drawing/2014/main" id="{2785DB89-7DDF-464E-AED8-4E5F5906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6" name="cell-2-0">
            <a:extLst xmlns:a="http://schemas.openxmlformats.org/drawingml/2006/main">
              <a:ext uri="{FF2B5EF4-FFF2-40B4-BE49-F238E27FC236}">
                <a16:creationId xmlns:a16="http://schemas.microsoft.com/office/drawing/2014/main" id="{34A0AA22-4D07-43C1-AF9D-2DEE71CE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Venue immersion</a:t>
            </a:r>
          </a:p>
        </p:txBody>
      </p:sp>
      <p:sp>
        <p:nvSpPr>
          <p:cNvPr id="17" name="cell-2-1">
            <a:extLst xmlns:a="http://schemas.openxmlformats.org/drawingml/2006/main">
              <a:ext uri="{FF2B5EF4-FFF2-40B4-BE49-F238E27FC236}">
                <a16:creationId xmlns:a16="http://schemas.microsoft.com/office/drawing/2014/main" id="{33524C29-B6DC-49E6-A414-AF888631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861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Private, supervised exploration of an approved design</a:t>
            </a:r>
          </a:p>
        </p:txBody>
      </p:sp>
      <p:sp>
        <p:nvSpPr>
          <p:cNvPr id="18" name="cell-2-2">
            <a:extLst xmlns:a="http://schemas.openxmlformats.org/drawingml/2006/main">
              <a:ext uri="{FF2B5EF4-FFF2-40B4-BE49-F238E27FC236}">
                <a16:creationId xmlns:a16="http://schemas.microsoft.com/office/drawing/2014/main" id="{D4EEDBB0-A550-4B57-A241-A2FAF552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1E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B1E3F"/>
                </a:solidFill>
                <a:latin typeface="Helvetica Neue"/>
                <a:ea typeface="Helvetica Neue"/>
                <a:cs typeface="Helvetica Neue"/>
              </a:rPr>
              <a:t>Collect payment credentials or biometric identity</a:t>
            </a:r>
          </a:p>
        </p:txBody>
      </p:sp>
      <p:sp>
        <p:nvSpPr>
          <p:cNvPr id="19" name="cell-2-3">
            <a:extLst xmlns:a="http://schemas.openxmlformats.org/drawingml/2006/main">
              <a:ext uri="{FF2B5EF4-FFF2-40B4-BE49-F238E27FC236}">
                <a16:creationId xmlns:a16="http://schemas.microsoft.com/office/drawing/2014/main" id="{D97D0967-0806-47E6-8454-EE23E409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Session-local experience</a:t>
            </a:r>
          </a:p>
        </p:txBody>
      </p:sp>
      <p:sp>
        <p:nvSpPr>
          <p:cNvPr id="20" name="row-3">
            <a:extLst xmlns:a="http://schemas.openxmlformats.org/drawingml/2006/main">
              <a:ext uri="{FF2B5EF4-FFF2-40B4-BE49-F238E27FC236}">
                <a16:creationId xmlns:a16="http://schemas.microsoft.com/office/drawing/2014/main" id="{918F8DEF-BEF8-422A-9224-25B69B16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1" name="cell-3-0">
            <a:extLst xmlns:a="http://schemas.openxmlformats.org/drawingml/2006/main">
              <a:ext uri="{FF2B5EF4-FFF2-40B4-BE49-F238E27FC236}">
                <a16:creationId xmlns:a16="http://schemas.microsoft.com/office/drawing/2014/main" id="{43420DBA-3B42-46AC-84C7-B68CE4BE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Trade AI</a:t>
            </a:r>
          </a:p>
        </p:txBody>
      </p:sp>
      <p:sp>
        <p:nvSpPr>
          <p:cNvPr id="22" name="cell-3-1">
            <a:extLst xmlns:a="http://schemas.openxmlformats.org/drawingml/2006/main">
              <a:ext uri="{FF2B5EF4-FFF2-40B4-BE49-F238E27FC236}">
                <a16:creationId xmlns:a16="http://schemas.microsoft.com/office/drawing/2014/main" id="{6C7C2279-C66F-4FB7-91CB-D287095D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2910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Prepare, compare evidence, recommend, propose</a:t>
            </a:r>
          </a:p>
        </p:txBody>
      </p:sp>
      <p:sp>
        <p:nvSpPr>
          <p:cNvPr id="23" name="cell-3-2">
            <a:extLst xmlns:a="http://schemas.openxmlformats.org/drawingml/2006/main">
              <a:ext uri="{FF2B5EF4-FFF2-40B4-BE49-F238E27FC236}">
                <a16:creationId xmlns:a16="http://schemas.microsoft.com/office/drawing/2014/main" id="{6EB8C75F-7391-47D9-B8F2-1EF18AA0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1E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B1E3F"/>
                </a:solidFill>
                <a:latin typeface="Helvetica Neue"/>
                <a:ea typeface="Helvetica Neue"/>
                <a:cs typeface="Helvetica Neue"/>
              </a:rPr>
              <a:t>Approve, release, settle or clear quarantine</a:t>
            </a:r>
          </a:p>
        </p:txBody>
      </p:sp>
      <p:sp>
        <p:nvSpPr>
          <p:cNvPr id="24" name="cell-3-3">
            <a:extLst xmlns:a="http://schemas.openxmlformats.org/drawingml/2006/main">
              <a:ext uri="{FF2B5EF4-FFF2-40B4-BE49-F238E27FC236}">
                <a16:creationId xmlns:a16="http://schemas.microsoft.com/office/drawing/2014/main" id="{2F6C3271-DC82-404B-B35B-93D91A3E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Advisory workspace</a:t>
            </a:r>
          </a:p>
        </p:txBody>
      </p:sp>
      <p:sp>
        <p:nvSpPr>
          <p:cNvPr id="25" name="row-4">
            <a:extLst xmlns:a="http://schemas.openxmlformats.org/drawingml/2006/main">
              <a:ext uri="{FF2B5EF4-FFF2-40B4-BE49-F238E27FC236}">
                <a16:creationId xmlns:a16="http://schemas.microsoft.com/office/drawing/2014/main" id="{34340122-61CC-4E80-B531-5B9980A9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6" name="cell-4-0">
            <a:extLst xmlns:a="http://schemas.openxmlformats.org/drawingml/2006/main">
              <a:ext uri="{FF2B5EF4-FFF2-40B4-BE49-F238E27FC236}">
                <a16:creationId xmlns:a16="http://schemas.microsoft.com/office/drawing/2014/main" id="{8AFF797C-AF77-4506-AC2A-8640D0B6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SeedCore RCT</a:t>
            </a:r>
          </a:p>
        </p:txBody>
      </p:sp>
      <p:sp>
        <p:nvSpPr>
          <p:cNvPr id="27" name="cell-4-1">
            <a:extLst xmlns:a="http://schemas.openxmlformats.org/drawingml/2006/main">
              <a:ext uri="{FF2B5EF4-FFF2-40B4-BE49-F238E27FC236}">
                <a16:creationId xmlns:a16="http://schemas.microsoft.com/office/drawing/2014/main" id="{2D61DBDB-1C79-45E8-BFF9-B7E161D3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7205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Evaluate typed requests and issue bounded authority</a:t>
            </a:r>
          </a:p>
        </p:txBody>
      </p:sp>
      <p:sp>
        <p:nvSpPr>
          <p:cNvPr id="28" name="cell-4-2">
            <a:extLst xmlns:a="http://schemas.openxmlformats.org/drawingml/2006/main">
              <a:ext uri="{FF2B5EF4-FFF2-40B4-BE49-F238E27FC236}">
                <a16:creationId xmlns:a16="http://schemas.microsoft.com/office/drawing/2014/main" id="{24C854F2-6F9F-4C19-8B91-E3601735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720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1E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B1E3F"/>
                </a:solidFill>
                <a:latin typeface="Helvetica Neue"/>
                <a:ea typeface="Helvetica Neue"/>
                <a:cs typeface="Helvetica Neue"/>
              </a:rPr>
              <a:t>Operate consumer checkout or claim legal title transfer</a:t>
            </a:r>
          </a:p>
        </p:txBody>
      </p:sp>
      <p:sp>
        <p:nvSpPr>
          <p:cNvPr id="29" name="cell-4-3">
            <a:extLst xmlns:a="http://schemas.openxmlformats.org/drawingml/2006/main">
              <a:ext uri="{FF2B5EF4-FFF2-40B4-BE49-F238E27FC236}">
                <a16:creationId xmlns:a16="http://schemas.microsoft.com/office/drawing/2014/main" id="{CAFBACD9-EC39-4D87-B1FC-16F5B22C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720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Trust runtime + evidence stores</a:t>
            </a:r>
          </a:p>
        </p:txBody>
      </p:sp>
    </p:spTree>
    <p:extLst>
      <p:ext uri="{BB962C8B-B14F-4D97-AF65-F5344CB8AC3E}">
        <p14:creationId xmlns:p14="http://schemas.microsoft.com/office/powerpoint/2010/main" val="12957656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5">
            <a:extLst xmlns:a="http://schemas.openxmlformats.org/drawingml/2006/main">
              <a:ext uri="{FF2B5EF4-FFF2-40B4-BE49-F238E27FC236}">
                <a16:creationId xmlns:a16="http://schemas.microsoft.com/office/drawing/2014/main" id="{14754C7F-997F-417D-81E6-7CED3F46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 governed trade, a proposal must earn authority</a:t>
            </a:r>
          </a:p>
        </p:txBody>
      </p:sp>
      <p:sp>
        <p:nvSpPr>
          <p:cNvPr id="2" name="subtitle-5">
            <a:extLst xmlns:a="http://schemas.openxmlformats.org/drawingml/2006/main">
              <a:ext uri="{FF2B5EF4-FFF2-40B4-BE49-F238E27FC236}">
                <a16:creationId xmlns:a16="http://schemas.microsoft.com/office/drawing/2014/main" id="{6BF5DAED-13E6-4EFC-BF2F-63EAFA19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AI can help prepare the transaction; the runtime decides whether a bounded action may execute.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77915653-24A5-496A-9250-1BE5B2DF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B7925ACA-1EC9-47E9-B7AB-5791DC8A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" name="flow-line">
            <a:extLst xmlns:a="http://schemas.openxmlformats.org/drawingml/2006/main">
              <a:ext uri="{FF2B5EF4-FFF2-40B4-BE49-F238E27FC236}">
                <a16:creationId xmlns:a16="http://schemas.microsoft.com/office/drawing/2014/main" id="{FE1AE9AF-4F84-4B5C-BD92-39D9F444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flow-dot-0">
            <a:extLst xmlns:a="http://schemas.openxmlformats.org/drawingml/2006/main">
              <a:ext uri="{FF2B5EF4-FFF2-40B4-BE49-F238E27FC236}">
                <a16:creationId xmlns:a16="http://schemas.microsoft.com/office/drawing/2014/main" id="{4C785BC2-3731-4C20-8027-2BC4ABD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68A6AD8F-D693-48F6-A69E-CDF8755E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Propose</a:t>
            </a:r>
          </a:p>
        </p:txBody>
      </p:sp>
      <p:sp>
        <p:nvSpPr>
          <p:cNvPr id="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20D85391-5238-4745-BC41-8F654CEE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Accountable trade agent submits a typed ActionIntent with asset, order/quote, delegation and evidence requirements.</a:t>
            </a:r>
          </a:p>
        </p:txBody>
      </p:sp>
      <p:sp>
        <p:nvSpPr>
          <p:cNvPr id="9" name="flow-dot-1">
            <a:extLst xmlns:a="http://schemas.openxmlformats.org/drawingml/2006/main">
              <a:ext uri="{FF2B5EF4-FFF2-40B4-BE49-F238E27FC236}">
                <a16:creationId xmlns:a16="http://schemas.microsoft.com/office/drawing/2014/main" id="{BE9F9F41-F570-442B-9082-94A603A5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76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7EEA6063-CCDD-40F6-B434-3E8079AA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Admit or deny</a:t>
            </a:r>
          </a:p>
        </p:txBody>
      </p:sp>
      <p:sp>
        <p:nvSpPr>
          <p:cNvPr id="11" name="flow-body-1">
            <a:extLst xmlns:a="http://schemas.openxmlformats.org/drawingml/2006/main">
              <a:ext uri="{FF2B5EF4-FFF2-40B4-BE49-F238E27FC236}">
                <a16:creationId xmlns:a16="http://schemas.microsoft.com/office/drawing/2014/main" id="{0761E6D7-D953-4156-BB84-D41848BB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PDP evaluates pinned policy, scope, approvals, asset state and freshness. It mints a short-lived token or withholds authority.</a:t>
            </a:r>
          </a:p>
        </p:txBody>
      </p:sp>
      <p:sp>
        <p:nvSpPr>
          <p:cNvPr id="12" name="flow-dot-2">
            <a:extLst xmlns:a="http://schemas.openxmlformats.org/drawingml/2006/main">
              <a:ext uri="{FF2B5EF4-FFF2-40B4-BE49-F238E27FC236}">
                <a16:creationId xmlns:a16="http://schemas.microsoft.com/office/drawing/2014/main" id="{A282BDD4-42A6-4734-8F93-E9190C62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3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8B775072-17BA-4817-99BA-80DE0B49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Prove closure</a:t>
            </a:r>
          </a:p>
        </p:txBody>
      </p:sp>
      <p:sp>
        <p:nvSpPr>
          <p:cNvPr id="1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27DBDF2-D20E-4C91-B548-D3F186D0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3067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actuator records receipts and evidence. Replay / RESULT_VERIFIER closes, rejects, reviews or quarantines the case.</a:t>
            </a:r>
          </a:p>
        </p:txBody>
      </p:sp>
      <p:sp>
        <p:nvSpPr>
          <p:cNvPr id="15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03C851B0-1657-43E6-860C-DD04E0CB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 proposal, interface, or confidence score is an authority source.</a:t>
            </a:r>
          </a:p>
        </p:txBody>
      </p:sp>
    </p:spTree>
    <p:extLst>
      <p:ext uri="{BB962C8B-B14F-4D97-AF65-F5344CB8AC3E}">
        <p14:creationId xmlns:p14="http://schemas.microsoft.com/office/powerpoint/2010/main" val="144337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6">
            <a:extLst xmlns:a="http://schemas.openxmlformats.org/drawingml/2006/main">
              <a:ext uri="{FF2B5EF4-FFF2-40B4-BE49-F238E27FC236}">
                <a16:creationId xmlns:a16="http://schemas.microsoft.com/office/drawing/2014/main" id="{C00BF476-AF83-4F1F-96EF-73C948B7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 custody action has a fail-closed perimeter</a:t>
            </a:r>
          </a:p>
        </p:txBody>
      </p:sp>
      <p:sp>
        <p:nvSpPr>
          <p:cNvPr id="2" name="subtitle-6">
            <a:extLst xmlns:a="http://schemas.openxmlformats.org/drawingml/2006/main">
              <a:ext uri="{FF2B5EF4-FFF2-40B4-BE49-F238E27FC236}">
                <a16:creationId xmlns:a16="http://schemas.microsoft.com/office/drawing/2014/main" id="{797EBCF0-0271-4936-BCF4-48339905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trade pathway does not turn a policy explanation, visual scene, or model recommendation into an override.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AB781B5B-34D8-4FC2-BC3E-074B7BC7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A9C60413-A997-4851-8885-9100A7AB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" name="card-0">
            <a:extLst xmlns:a="http://schemas.openxmlformats.org/drawingml/2006/main">
              <a:ext uri="{FF2B5EF4-FFF2-40B4-BE49-F238E27FC236}">
                <a16:creationId xmlns:a16="http://schemas.microsoft.com/office/drawing/2014/main" id="{33C6B285-0B22-45E0-87C5-0CBC2D71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28875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rd-index-0">
            <a:extLst xmlns:a="http://schemas.openxmlformats.org/drawingml/2006/main">
              <a:ext uri="{FF2B5EF4-FFF2-40B4-BE49-F238E27FC236}">
                <a16:creationId xmlns:a16="http://schemas.microsoft.com/office/drawing/2014/main" id="{9DB26A57-0DAC-4CC0-9BFF-4A405A93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card-heading-0">
            <a:extLst xmlns:a="http://schemas.openxmlformats.org/drawingml/2006/main">
              <a:ext uri="{FF2B5EF4-FFF2-40B4-BE49-F238E27FC236}">
                <a16:creationId xmlns:a16="http://schemas.microsoft.com/office/drawing/2014/main" id="{C7617F67-63BB-41E0-8CF8-99E3D702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Before execution</a:t>
            </a:r>
          </a:p>
        </p:txBody>
      </p:sp>
      <p:sp>
        <p:nvSpPr>
          <p:cNvPr id="8" name="card-body-0">
            <a:extLst xmlns:a="http://schemas.openxmlformats.org/drawingml/2006/main">
              <a:ext uri="{FF2B5EF4-FFF2-40B4-BE49-F238E27FC236}">
                <a16:creationId xmlns:a16="http://schemas.microsoft.com/office/drawing/2014/main" id="{87419E75-4DF6-4C81-BA45-60E972E4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686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Typed intent, named principal, delegated scope, approvals, asset state, TTL and fresh evidence are evaluated before a token can exist.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ECA30D83-92C1-4E10-B869-8BB4C0FB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28875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index-1">
            <a:extLst xmlns:a="http://schemas.openxmlformats.org/drawingml/2006/main">
              <a:ext uri="{FF2B5EF4-FFF2-40B4-BE49-F238E27FC236}">
                <a16:creationId xmlns:a16="http://schemas.microsoft.com/office/drawing/2014/main" id="{52CC4A6F-DF10-4BB8-91BA-FCFD8692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card-heading-1">
            <a:extLst xmlns:a="http://schemas.openxmlformats.org/drawingml/2006/main">
              <a:ext uri="{FF2B5EF4-FFF2-40B4-BE49-F238E27FC236}">
                <a16:creationId xmlns:a16="http://schemas.microsoft.com/office/drawing/2014/main" id="{1E881CC4-8193-4D1A-BC8E-9CC36A7B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813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 execution</a:t>
            </a:r>
          </a:p>
        </p:txBody>
      </p:sp>
      <p:sp>
        <p:nvSpPr>
          <p:cNvPr id="12" name="card-body-1">
            <a:extLst xmlns:a="http://schemas.openxmlformats.org/drawingml/2006/main">
              <a:ext uri="{FF2B5EF4-FFF2-40B4-BE49-F238E27FC236}">
                <a16:creationId xmlns:a16="http://schemas.microsoft.com/office/drawing/2014/main" id="{908803EC-AFE2-4892-AD36-94E7F2CD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2686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actuator rejects a missing, expired, replayed or scope-mismatched token. Authority is bounded to the approved action.</a:t>
            </a:r>
          </a:p>
        </p:txBody>
      </p:sp>
      <p:sp>
        <p:nvSpPr>
          <p:cNvPr id="13" name="card-2">
            <a:extLst xmlns:a="http://schemas.openxmlformats.org/drawingml/2006/main">
              <a:ext uri="{FF2B5EF4-FFF2-40B4-BE49-F238E27FC236}">
                <a16:creationId xmlns:a16="http://schemas.microsoft.com/office/drawing/2014/main" id="{9334E50B-C746-41E4-8B75-8C101221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28875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index-2">
            <a:extLst xmlns:a="http://schemas.openxmlformats.org/drawingml/2006/main">
              <a:ext uri="{FF2B5EF4-FFF2-40B4-BE49-F238E27FC236}">
                <a16:creationId xmlns:a16="http://schemas.microsoft.com/office/drawing/2014/main" id="{B0D3F87E-8679-41A7-8873-F72202FB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card-heading-2">
            <a:extLst xmlns:a="http://schemas.openxmlformats.org/drawingml/2006/main">
              <a:ext uri="{FF2B5EF4-FFF2-40B4-BE49-F238E27FC236}">
                <a16:creationId xmlns:a16="http://schemas.microsoft.com/office/drawing/2014/main" id="{5F24FF86-C5AA-49FA-B2FB-D351B7D9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After execution</a:t>
            </a:r>
          </a:p>
        </p:txBody>
      </p:sp>
      <p:sp>
        <p:nvSpPr>
          <p:cNvPr id="16" name="card-body-2">
            <a:extLst xmlns:a="http://schemas.openxmlformats.org/drawingml/2006/main">
              <a:ext uri="{FF2B5EF4-FFF2-40B4-BE49-F238E27FC236}">
                <a16:creationId xmlns:a16="http://schemas.microsoft.com/office/drawing/2014/main" id="{B4C3EF90-DF7B-44C6-8536-E21EC2E1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686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Receipts bind to request and token hashes. Replay fixtures cover allow, deny, stale, tamper, wrong-asset and mismatch/quarantine outcomes.</a:t>
            </a:r>
          </a:p>
        </p:txBody>
      </p:sp>
    </p:spTree>
    <p:extLst>
      <p:ext uri="{BB962C8B-B14F-4D97-AF65-F5344CB8AC3E}">
        <p14:creationId xmlns:p14="http://schemas.microsoft.com/office/powerpoint/2010/main" val="12303029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7">
            <a:extLst xmlns:a="http://schemas.openxmlformats.org/drawingml/2006/main">
              <a:ext uri="{FF2B5EF4-FFF2-40B4-BE49-F238E27FC236}">
                <a16:creationId xmlns:a16="http://schemas.microsoft.com/office/drawing/2014/main" id="{EDC41FDB-F900-4C9C-B9DD-FA01367B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Progress is evidence-gated — not feature-led</a:t>
            </a:r>
          </a:p>
        </p:txBody>
      </p:sp>
      <p:sp>
        <p:nvSpPr>
          <p:cNvPr id="2" name="subtitle-7">
            <a:extLst xmlns:a="http://schemas.openxmlformats.org/drawingml/2006/main">
              <a:ext uri="{FF2B5EF4-FFF2-40B4-BE49-F238E27FC236}">
                <a16:creationId xmlns:a16="http://schemas.microsoft.com/office/drawing/2014/main" id="{F55C5377-BE9C-4CC3-9B66-0FB0621B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Move one variable at a time, and stop or revise when the evidence says to do so.</a:t>
            </a:r>
          </a:p>
        </p:txBody>
      </p:sp>
      <p:sp>
        <p:nvSpPr>
          <p:cNvPr id="3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BC0AA6CD-681D-4A1A-A4CE-033EF33A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12DA79BD-4CF7-481E-8D01-3557B0E3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" name="road-header-0">
            <a:extLst xmlns:a="http://schemas.openxmlformats.org/drawingml/2006/main">
              <a:ext uri="{FF2B5EF4-FFF2-40B4-BE49-F238E27FC236}">
                <a16:creationId xmlns:a16="http://schemas.microsoft.com/office/drawing/2014/main" id="{04A9D8B9-55DF-4A6A-8F31-F38C7989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05000"/>
            <a:ext cx="2038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ad-header-text-0">
            <a:extLst xmlns:a="http://schemas.openxmlformats.org/drawingml/2006/main">
              <a:ext uri="{FF2B5EF4-FFF2-40B4-BE49-F238E27FC236}">
                <a16:creationId xmlns:a16="http://schemas.microsoft.com/office/drawing/2014/main" id="{784B45E1-9544-4904-BA79-87219627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19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Weeks 1–4</a:t>
            </a:r>
          </a:p>
        </p:txBody>
      </p:sp>
      <p:sp>
        <p:nvSpPr>
          <p:cNvPr id="7" name="road-header-1">
            <a:extLst xmlns:a="http://schemas.openxmlformats.org/drawingml/2006/main">
              <a:ext uri="{FF2B5EF4-FFF2-40B4-BE49-F238E27FC236}">
                <a16:creationId xmlns:a16="http://schemas.microsoft.com/office/drawing/2014/main" id="{77C207B5-7DBB-44A2-B2A4-158726E8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05000"/>
            <a:ext cx="2038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-header-text-1">
            <a:extLst xmlns:a="http://schemas.openxmlformats.org/drawingml/2006/main">
              <a:ext uri="{FF2B5EF4-FFF2-40B4-BE49-F238E27FC236}">
                <a16:creationId xmlns:a16="http://schemas.microsoft.com/office/drawing/2014/main" id="{E66D6D1B-963D-4925-9A0C-A4C1F55D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19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Weeks 5–12</a:t>
            </a:r>
          </a:p>
        </p:txBody>
      </p:sp>
      <p:sp>
        <p:nvSpPr>
          <p:cNvPr id="9" name="road-header-2">
            <a:extLst xmlns:a="http://schemas.openxmlformats.org/drawingml/2006/main">
              <a:ext uri="{FF2B5EF4-FFF2-40B4-BE49-F238E27FC236}">
                <a16:creationId xmlns:a16="http://schemas.microsoft.com/office/drawing/2014/main" id="{1FFA8B9F-31FE-4AED-9B03-0E66F416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0"/>
            <a:ext cx="2038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ad-header-text-2">
            <a:extLst xmlns:a="http://schemas.openxmlformats.org/drawingml/2006/main">
              <a:ext uri="{FF2B5EF4-FFF2-40B4-BE49-F238E27FC236}">
                <a16:creationId xmlns:a16="http://schemas.microsoft.com/office/drawing/2014/main" id="{BA7E141F-6DD0-4CA3-A2CC-BA6BFCC4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19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Weeks 13–20</a:t>
            </a:r>
          </a:p>
        </p:txBody>
      </p:sp>
      <p:sp>
        <p:nvSpPr>
          <p:cNvPr id="11" name="road-header-3">
            <a:extLst xmlns:a="http://schemas.openxmlformats.org/drawingml/2006/main">
              <a:ext uri="{FF2B5EF4-FFF2-40B4-BE49-F238E27FC236}">
                <a16:creationId xmlns:a16="http://schemas.microsoft.com/office/drawing/2014/main" id="{E1A7F490-0B00-42E8-92C3-64706180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05000"/>
            <a:ext cx="2038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-header-text-3">
            <a:extLst xmlns:a="http://schemas.openxmlformats.org/drawingml/2006/main">
              <a:ext uri="{FF2B5EF4-FFF2-40B4-BE49-F238E27FC236}">
                <a16:creationId xmlns:a16="http://schemas.microsoft.com/office/drawing/2014/main" id="{E9932296-A00B-499D-9CAD-BE2358F8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19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After Week 20</a:t>
            </a:r>
          </a:p>
        </p:txBody>
      </p:sp>
      <p:sp>
        <p:nvSpPr>
          <p:cNvPr id="13" name="lane-tourist">
            <a:extLst xmlns:a="http://schemas.openxmlformats.org/drawingml/2006/main">
              <a:ext uri="{FF2B5EF4-FFF2-40B4-BE49-F238E27FC236}">
                <a16:creationId xmlns:a16="http://schemas.microsoft.com/office/drawing/2014/main" id="{95948DAD-BE80-4F50-B26A-27F07EAB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Tourist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Studio</a:t>
            </a:r>
          </a:p>
        </p:txBody>
      </p:sp>
      <p:sp>
        <p:nvSpPr>
          <p:cNvPr id="14" name="lane-trade">
            <a:extLst xmlns:a="http://schemas.openxmlformats.org/drawingml/2006/main">
              <a:ext uri="{FF2B5EF4-FFF2-40B4-BE49-F238E27FC236}">
                <a16:creationId xmlns:a16="http://schemas.microsoft.com/office/drawing/2014/main" id="{6A7AE065-60C7-493A-9066-257896B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147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Governed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trade</a:t>
            </a:r>
          </a:p>
        </p:txBody>
      </p:sp>
      <p:sp>
        <p:nvSpPr>
          <p:cNvPr id="15" name="lane-immersive">
            <a:extLst xmlns:a="http://schemas.openxmlformats.org/drawingml/2006/main">
              <a:ext uri="{FF2B5EF4-FFF2-40B4-BE49-F238E27FC236}">
                <a16:creationId xmlns:a16="http://schemas.microsoft.com/office/drawing/2014/main" id="{4D64E64E-AA63-4BD2-AA6F-35C33BB7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Immersive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extensions</a:t>
            </a:r>
          </a:p>
        </p:txBody>
      </p:sp>
      <p:sp>
        <p:nvSpPr>
          <p:cNvPr id="16" name="road-rule-0">
            <a:extLst xmlns:a="http://schemas.openxmlformats.org/drawingml/2006/main">
              <a:ext uri="{FF2B5EF4-FFF2-40B4-BE49-F238E27FC236}">
                <a16:creationId xmlns:a16="http://schemas.microsoft.com/office/drawing/2014/main" id="{13A2BEC3-75E1-45A5-A735-31CF139E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19375"/>
            <a:ext cx="815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7" name="road-rule-1">
            <a:extLst xmlns:a="http://schemas.openxmlformats.org/drawingml/2006/main">
              <a:ext uri="{FF2B5EF4-FFF2-40B4-BE49-F238E27FC236}">
                <a16:creationId xmlns:a16="http://schemas.microsoft.com/office/drawing/2014/main" id="{D3B41722-EA5F-4A49-B14E-A28035EA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86200"/>
            <a:ext cx="815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8" name="road-rule-2">
            <a:extLst xmlns:a="http://schemas.openxmlformats.org/drawingml/2006/main">
              <a:ext uri="{FF2B5EF4-FFF2-40B4-BE49-F238E27FC236}">
                <a16:creationId xmlns:a16="http://schemas.microsoft.com/office/drawing/2014/main" id="{F47F7927-35B0-4416-9375-B1F66321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53025"/>
            <a:ext cx="815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9" name="road-bar-0">
            <a:extLst xmlns:a="http://schemas.openxmlformats.org/drawingml/2006/main">
              <a:ext uri="{FF2B5EF4-FFF2-40B4-BE49-F238E27FC236}">
                <a16:creationId xmlns:a16="http://schemas.microsoft.com/office/drawing/2014/main" id="{F798E020-8E86-4921-A82F-615C95CB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71775"/>
            <a:ext cx="3981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oad-bar-text-0">
            <a:extLst xmlns:a="http://schemas.openxmlformats.org/drawingml/2006/main">
              <a:ext uri="{FF2B5EF4-FFF2-40B4-BE49-F238E27FC236}">
                <a16:creationId xmlns:a16="http://schemas.microsoft.com/office/drawing/2014/main" id="{975EC677-D3D4-414E-BCEE-C3C4EF58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86075"/>
            <a:ext cx="3752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venue, one kit, one product, one fulfillment route</a:t>
            </a:r>
          </a:p>
        </p:txBody>
      </p:sp>
      <p:sp>
        <p:nvSpPr>
          <p:cNvPr id="21" name="road-bar-1">
            <a:extLst xmlns:a="http://schemas.openxmlformats.org/drawingml/2006/main">
              <a:ext uri="{FF2B5EF4-FFF2-40B4-BE49-F238E27FC236}">
                <a16:creationId xmlns:a16="http://schemas.microsoft.com/office/drawing/2014/main" id="{4C906C8C-B39F-4F59-87D2-41F24513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3981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ad-bar-text-1">
            <a:extLst xmlns:a="http://schemas.openxmlformats.org/drawingml/2006/main">
              <a:ext uri="{FF2B5EF4-FFF2-40B4-BE49-F238E27FC236}">
                <a16:creationId xmlns:a16="http://schemas.microsoft.com/office/drawing/2014/main" id="{742D63AA-805D-4A82-B820-9546B63D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52900"/>
            <a:ext cx="3752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Fixtures prove quote/order → policy → token → custody → evidence → replay</a:t>
            </a:r>
          </a:p>
        </p:txBody>
      </p:sp>
      <p:sp>
        <p:nvSpPr>
          <p:cNvPr id="23" name="road-bar-2">
            <a:extLst xmlns:a="http://schemas.openxmlformats.org/drawingml/2006/main">
              <a:ext uri="{FF2B5EF4-FFF2-40B4-BE49-F238E27FC236}">
                <a16:creationId xmlns:a16="http://schemas.microsoft.com/office/drawing/2014/main" id="{4AE0E075-B82E-4EA6-B209-121266E5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05425"/>
            <a:ext cx="366903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oad-bar-text-2">
            <a:extLst xmlns:a="http://schemas.openxmlformats.org/drawingml/2006/main">
              <a:ext uri="{FF2B5EF4-FFF2-40B4-BE49-F238E27FC236}">
                <a16:creationId xmlns:a16="http://schemas.microsoft.com/office/drawing/2014/main" id="{DB45916A-2966-4DF4-BE3E-5CD78B14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419725"/>
            <a:ext cx="344043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Kids’ spatial DIY, 3D / AR and provenance research only when a specific hypothesis is ready</a:t>
            </a:r>
          </a:p>
        </p:txBody>
      </p:sp>
      <p:sp>
        <p:nvSpPr>
          <p:cNvPr id="25" name="road-bar-3">
            <a:extLst xmlns:a="http://schemas.openxmlformats.org/drawingml/2006/main">
              <a:ext uri="{FF2B5EF4-FFF2-40B4-BE49-F238E27FC236}">
                <a16:creationId xmlns:a16="http://schemas.microsoft.com/office/drawing/2014/main" id="{BBD47B48-B829-4F9B-A353-CFC1F439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386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oad-bar-text-3">
            <a:extLst xmlns:a="http://schemas.openxmlformats.org/drawingml/2006/main">
              <a:ext uri="{FF2B5EF4-FFF2-40B4-BE49-F238E27FC236}">
                <a16:creationId xmlns:a16="http://schemas.microsoft.com/office/drawing/2014/main" id="{29B55580-4190-4BE4-BD4A-E35BEB63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529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named partner integration; expand action classes only after coverage</a:t>
            </a:r>
          </a:p>
        </p:txBody>
      </p:sp>
    </p:spTree>
    <p:extLst>
      <p:ext uri="{BB962C8B-B14F-4D97-AF65-F5344CB8AC3E}">
        <p14:creationId xmlns:p14="http://schemas.microsoft.com/office/powerpoint/2010/main" val="11607559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8">
            <a:extLst xmlns:a="http://schemas.openxmlformats.org/drawingml/2006/main">
              <a:ext uri="{FF2B5EF4-FFF2-40B4-BE49-F238E27FC236}">
                <a16:creationId xmlns:a16="http://schemas.microsoft.com/office/drawing/2014/main" id="{365239F9-DE58-49A1-8F27-8897D239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7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we need from partners and reference stakeholders</a:t>
            </a:r>
          </a:p>
        </p:txBody>
      </p:sp>
      <p:sp>
        <p:nvSpPr>
          <p:cNvPr id="2" name="subtitle-8">
            <a:extLst xmlns:a="http://schemas.openxmlformats.org/drawingml/2006/main">
              <a:ext uri="{FF2B5EF4-FFF2-40B4-BE49-F238E27FC236}">
                <a16:creationId xmlns:a16="http://schemas.microsoft.com/office/drawing/2014/main" id="{C46D4F0A-14A5-4D4A-A764-27EB6374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first phase is a set of explicit operating decisions—not a request for an open-ended platform commitment.</a:t>
            </a:r>
          </a:p>
        </p:txBody>
      </p:sp>
      <p:sp>
        <p:nvSpPr>
          <p:cNvPr id="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386B2839-8808-4509-8D48-932ED6C3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5D84FD40-8701-4BF4-9543-7EBB48F0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" name="partner-row-0">
            <a:extLst xmlns:a="http://schemas.openxmlformats.org/drawingml/2006/main">
              <a:ext uri="{FF2B5EF4-FFF2-40B4-BE49-F238E27FC236}">
                <a16:creationId xmlns:a16="http://schemas.microsoft.com/office/drawing/2014/main" id="{B4DDADF6-215E-4D6B-8EEE-0BD047CD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1125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partner-cell-0-0">
            <a:extLst xmlns:a="http://schemas.openxmlformats.org/drawingml/2006/main">
              <a:ext uri="{FF2B5EF4-FFF2-40B4-BE49-F238E27FC236}">
                <a16:creationId xmlns:a16="http://schemas.microsoft.com/office/drawing/2014/main" id="{3883D7D2-F77C-4E95-B4AB-89183936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 area</a:t>
            </a:r>
          </a:p>
        </p:txBody>
      </p:sp>
      <p:sp>
        <p:nvSpPr>
          <p:cNvPr id="7" name="partner-cell-0-1">
            <a:extLst xmlns:a="http://schemas.openxmlformats.org/drawingml/2006/main">
              <a:ext uri="{FF2B5EF4-FFF2-40B4-BE49-F238E27FC236}">
                <a16:creationId xmlns:a16="http://schemas.microsoft.com/office/drawing/2014/main" id="{C8AB5F11-2C48-4AF3-A5DA-AD501FE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76475"/>
            <a:ext cx="2581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must be explicit</a:t>
            </a:r>
          </a:p>
        </p:txBody>
      </p:sp>
      <p:sp>
        <p:nvSpPr>
          <p:cNvPr id="8" name="partner-cell-0-2">
            <a:extLst xmlns:a="http://schemas.openxmlformats.org/drawingml/2006/main">
              <a:ext uri="{FF2B5EF4-FFF2-40B4-BE49-F238E27FC236}">
                <a16:creationId xmlns:a16="http://schemas.microsoft.com/office/drawing/2014/main" id="{F68B81AA-04EE-4625-8C9C-538858E7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276475"/>
            <a:ext cx="2657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Likely counterpart</a:t>
            </a:r>
          </a:p>
        </p:txBody>
      </p:sp>
      <p:sp>
        <p:nvSpPr>
          <p:cNvPr id="9" name="partner-cell-0-3">
            <a:extLst xmlns:a="http://schemas.openxmlformats.org/drawingml/2006/main">
              <a:ext uri="{FF2B5EF4-FFF2-40B4-BE49-F238E27FC236}">
                <a16:creationId xmlns:a16="http://schemas.microsoft.com/office/drawing/2014/main" id="{B5474011-35B6-4FC4-A800-1F17F2C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764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 of readiness</a:t>
            </a:r>
          </a:p>
        </p:txBody>
      </p:sp>
      <p:sp>
        <p:nvSpPr>
          <p:cNvPr id="10" name="partner-row-1">
            <a:extLst xmlns:a="http://schemas.openxmlformats.org/drawingml/2006/main">
              <a:ext uri="{FF2B5EF4-FFF2-40B4-BE49-F238E27FC236}">
                <a16:creationId xmlns:a16="http://schemas.microsoft.com/office/drawing/2014/main" id="{896D4C2F-AFDF-4389-905D-FB9981D9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1" name="partner-cell-1-0">
            <a:extLst xmlns:a="http://schemas.openxmlformats.org/drawingml/2006/main">
              <a:ext uri="{FF2B5EF4-FFF2-40B4-BE49-F238E27FC236}">
                <a16:creationId xmlns:a16="http://schemas.microsoft.com/office/drawing/2014/main" id="{95237A3E-1EC1-45F6-9B65-1DA0D802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Visitor pilot</a:t>
            </a:r>
          </a:p>
        </p:txBody>
      </p:sp>
      <p:sp>
        <p:nvSpPr>
          <p:cNvPr id="12" name="partner-cell-1-1">
            <a:extLst xmlns:a="http://schemas.openxmlformats.org/drawingml/2006/main">
              <a:ext uri="{FF2B5EF4-FFF2-40B4-BE49-F238E27FC236}">
                <a16:creationId xmlns:a16="http://schemas.microsoft.com/office/drawing/2014/main" id="{B902948C-5243-4F0C-8BB5-1BAE0BBE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2581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Venue, product kit, fulfillment promise, support and rights</a:t>
            </a:r>
          </a:p>
        </p:txBody>
      </p:sp>
      <p:sp>
        <p:nvSpPr>
          <p:cNvPr id="13" name="partner-cell-1-2">
            <a:extLst xmlns:a="http://schemas.openxmlformats.org/drawingml/2006/main">
              <a:ext uri="{FF2B5EF4-FFF2-40B4-BE49-F238E27FC236}">
                <a16:creationId xmlns:a16="http://schemas.microsoft.com/office/drawing/2014/main" id="{020382FE-1266-4FF3-A421-F0C7FF21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43200"/>
            <a:ext cx="2657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Venue partner + commercial lead</a:t>
            </a:r>
          </a:p>
        </p:txBody>
      </p:sp>
      <p:sp>
        <p:nvSpPr>
          <p:cNvPr id="14" name="partner-cell-1-3">
            <a:extLst xmlns:a="http://schemas.openxmlformats.org/drawingml/2006/main">
              <a:ext uri="{FF2B5EF4-FFF2-40B4-BE49-F238E27FC236}">
                <a16:creationId xmlns:a16="http://schemas.microsoft.com/office/drawing/2014/main" id="{74B70443-277E-46FB-9B48-2E955B0D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251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Signed scope and responsibility matrix</a:t>
            </a:r>
          </a:p>
        </p:txBody>
      </p:sp>
      <p:sp>
        <p:nvSpPr>
          <p:cNvPr id="15" name="partner-row-2">
            <a:extLst xmlns:a="http://schemas.openxmlformats.org/drawingml/2006/main">
              <a:ext uri="{FF2B5EF4-FFF2-40B4-BE49-F238E27FC236}">
                <a16:creationId xmlns:a16="http://schemas.microsoft.com/office/drawing/2014/main" id="{F1921575-99CC-4DCD-A6A7-6E2F2E63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6" name="partner-cell-2-0">
            <a:extLst xmlns:a="http://schemas.openxmlformats.org/drawingml/2006/main">
              <a:ext uri="{FF2B5EF4-FFF2-40B4-BE49-F238E27FC236}">
                <a16:creationId xmlns:a16="http://schemas.microsoft.com/office/drawing/2014/main" id="{93F9D55A-1C8D-45AE-83AD-F77F8F2A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Kids’ DIY &amp; privacy</a:t>
            </a:r>
          </a:p>
        </p:txBody>
      </p:sp>
      <p:sp>
        <p:nvSpPr>
          <p:cNvPr id="17" name="partner-cell-2-1">
            <a:extLst xmlns:a="http://schemas.openxmlformats.org/drawingml/2006/main">
              <a:ext uri="{FF2B5EF4-FFF2-40B4-BE49-F238E27FC236}">
                <a16:creationId xmlns:a16="http://schemas.microsoft.com/office/drawing/2014/main" id="{2AEB3BD4-A1FD-484E-9CA3-FD576B9E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86150"/>
            <a:ext cx="2581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Age/supervision, retention, spatial-session boundaries, payment, refund and review</a:t>
            </a:r>
          </a:p>
        </p:txBody>
      </p:sp>
      <p:sp>
        <p:nvSpPr>
          <p:cNvPr id="18" name="partner-cell-2-2">
            <a:extLst xmlns:a="http://schemas.openxmlformats.org/drawingml/2006/main">
              <a:ext uri="{FF2B5EF4-FFF2-40B4-BE49-F238E27FC236}">
                <a16:creationId xmlns:a16="http://schemas.microsoft.com/office/drawing/2014/main" id="{18AC451B-7796-4690-BE49-F41FBF15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86150"/>
            <a:ext cx="2657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Government / venue reference + privacy lead</a:t>
            </a:r>
          </a:p>
        </p:txBody>
      </p:sp>
      <p:sp>
        <p:nvSpPr>
          <p:cNvPr id="19" name="partner-cell-2-3">
            <a:extLst xmlns:a="http://schemas.openxmlformats.org/drawingml/2006/main">
              <a:ext uri="{FF2B5EF4-FFF2-40B4-BE49-F238E27FC236}">
                <a16:creationId xmlns:a16="http://schemas.microsoft.com/office/drawing/2014/main" id="{B4595507-E986-4694-8A2B-2F44F7E6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251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Reviewed disclosures, data map and supervision plan</a:t>
            </a:r>
          </a:p>
        </p:txBody>
      </p:sp>
      <p:sp>
        <p:nvSpPr>
          <p:cNvPr id="20" name="partner-row-3">
            <a:extLst xmlns:a="http://schemas.openxmlformats.org/drawingml/2006/main">
              <a:ext uri="{FF2B5EF4-FFF2-40B4-BE49-F238E27FC236}">
                <a16:creationId xmlns:a16="http://schemas.microsoft.com/office/drawing/2014/main" id="{6373A72D-832A-4D99-BCDD-AB4405C3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1" name="partner-cell-3-0">
            <a:extLst xmlns:a="http://schemas.openxmlformats.org/drawingml/2006/main">
              <a:ext uri="{FF2B5EF4-FFF2-40B4-BE49-F238E27FC236}">
                <a16:creationId xmlns:a16="http://schemas.microsoft.com/office/drawing/2014/main" id="{5368926E-8745-4D04-B4BC-A563B181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Trade integration</a:t>
            </a:r>
          </a:p>
        </p:txBody>
      </p:sp>
      <p:sp>
        <p:nvSpPr>
          <p:cNvPr id="22" name="partner-cell-3-1">
            <a:extLst xmlns:a="http://schemas.openxmlformats.org/drawingml/2006/main">
              <a:ext uri="{FF2B5EF4-FFF2-40B4-BE49-F238E27FC236}">
                <a16:creationId xmlns:a16="http://schemas.microsoft.com/office/drawing/2014/main" id="{5E5A2AE9-8499-4E99-AC81-21ADFB6C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29100"/>
            <a:ext cx="2581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First named custody/fulfillment action class and operational owner</a:t>
            </a:r>
          </a:p>
        </p:txBody>
      </p:sp>
      <p:sp>
        <p:nvSpPr>
          <p:cNvPr id="23" name="partner-cell-3-2">
            <a:extLst xmlns:a="http://schemas.openxmlformats.org/drawingml/2006/main">
              <a:ext uri="{FF2B5EF4-FFF2-40B4-BE49-F238E27FC236}">
                <a16:creationId xmlns:a16="http://schemas.microsoft.com/office/drawing/2014/main" id="{38B25A88-1FFF-4695-85C2-C34C22C2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29100"/>
            <a:ext cx="2657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Rare-shoe trade / logistics partner</a:t>
            </a:r>
          </a:p>
        </p:txBody>
      </p:sp>
      <p:sp>
        <p:nvSpPr>
          <p:cNvPr id="24" name="partner-cell-3-3">
            <a:extLst xmlns:a="http://schemas.openxmlformats.org/drawingml/2006/main">
              <a:ext uri="{FF2B5EF4-FFF2-40B4-BE49-F238E27FC236}">
                <a16:creationId xmlns:a16="http://schemas.microsoft.com/office/drawing/2014/main" id="{638333A6-037B-45B3-9CA3-4EBD3C5F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251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Mapped ActionIntent, policy and replay requirements</a:t>
            </a:r>
          </a:p>
        </p:txBody>
      </p:sp>
      <p:sp>
        <p:nvSpPr>
          <p:cNvPr id="25" name="partner-row-4">
            <a:extLst xmlns:a="http://schemas.openxmlformats.org/drawingml/2006/main">
              <a:ext uri="{FF2B5EF4-FFF2-40B4-BE49-F238E27FC236}">
                <a16:creationId xmlns:a16="http://schemas.microsoft.com/office/drawing/2014/main" id="{F8B9078C-8520-41EC-9C7D-77E04BEB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6" name="partner-cell-4-0">
            <a:extLst xmlns:a="http://schemas.openxmlformats.org/drawingml/2006/main">
              <a:ext uri="{FF2B5EF4-FFF2-40B4-BE49-F238E27FC236}">
                <a16:creationId xmlns:a16="http://schemas.microsoft.com/office/drawing/2014/main" id="{298D7659-9D1A-42C2-A80F-0A489CAB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Evidence projection</a:t>
            </a:r>
          </a:p>
        </p:txBody>
      </p:sp>
      <p:sp>
        <p:nvSpPr>
          <p:cNvPr id="27" name="partner-cell-4-1">
            <a:extLst xmlns:a="http://schemas.openxmlformats.org/drawingml/2006/main">
              <a:ext uri="{FF2B5EF4-FFF2-40B4-BE49-F238E27FC236}">
                <a16:creationId xmlns:a16="http://schemas.microsoft.com/office/drawing/2014/main" id="{915ACF07-BDBB-4053-A9F6-C5E67FA0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72050"/>
            <a:ext cx="2581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Which verified fields may be shown without exposing sensitive telemetry or private parties</a:t>
            </a:r>
          </a:p>
        </p:txBody>
      </p:sp>
      <p:sp>
        <p:nvSpPr>
          <p:cNvPr id="28" name="partner-cell-4-2">
            <a:extLst xmlns:a="http://schemas.openxmlformats.org/drawingml/2006/main">
              <a:ext uri="{FF2B5EF4-FFF2-40B4-BE49-F238E27FC236}">
                <a16:creationId xmlns:a16="http://schemas.microsoft.com/office/drawing/2014/main" id="{0AB639ED-6AE7-490B-80BE-1AF5C264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972050"/>
            <a:ext cx="2657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Verifier + partner operations</a:t>
            </a:r>
          </a:p>
        </p:txBody>
      </p:sp>
      <p:sp>
        <p:nvSpPr>
          <p:cNvPr id="29" name="partner-cell-4-3">
            <a:extLst xmlns:a="http://schemas.openxmlformats.org/drawingml/2006/main">
              <a:ext uri="{FF2B5EF4-FFF2-40B4-BE49-F238E27FC236}">
                <a16:creationId xmlns:a16="http://schemas.microsoft.com/office/drawing/2014/main" id="{51286278-6E99-43D2-9910-4D14AF5E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72050"/>
            <a:ext cx="251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Permitted projection contract</a:t>
            </a:r>
          </a:p>
        </p:txBody>
      </p:sp>
    </p:spTree>
    <p:extLst>
      <p:ext uri="{BB962C8B-B14F-4D97-AF65-F5344CB8AC3E}">
        <p14:creationId xmlns:p14="http://schemas.microsoft.com/office/powerpoint/2010/main" val="18263664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42D4C3D8-90AC-4161-995B-FB0C2A0D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INVITATION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9CAC861-D494-4919-81F8-CC33D409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Start with one</a:t>
            </a:r>
          </a:p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disciplined pilot.</a:t>
            </a:r>
          </a:p>
        </p:txBody>
      </p:sp>
      <p:sp>
        <p:nvSpPr>
          <p:cNvPr id="3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05234707-A6F0-4503-B450-4805ADD2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9715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Validate the child-friendly DIY journey and operational reliability at one venue. Then test the private, supervised spatial extension only if the pilot identifies a clear commercial role. In parallel, nominate one rare-shoe custody integration where the governed flow can be tested end to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Keep creativity delightful. Keep consequential actions explicit, bounded and provable.</a:t>
            </a:r>
          </a:p>
        </p:txBody>
      </p:sp>
      <p:sp>
        <p:nvSpPr>
          <p:cNvPr id="4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C00B418C-0D14-45EC-B855-4C88A6AE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F3E2EE63-98C7-4C81-8FE5-E509F5A4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960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57C8AD8E-26B5-4BBE-BDF2-80C0135D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51933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2026-08-05T03:52:53.6080000Z</dcterms:created>
  <dcterms:modified xsi:type="dcterms:W3CDTF">2026-08-05T03:52:53.6080000Z</dcterms:modified>
</coreProperties>
</file>